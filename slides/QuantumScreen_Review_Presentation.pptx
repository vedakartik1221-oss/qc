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8A1E3"/>
                </a:solidFill>
              </a:defRPr>
            </a:pPr>
            <a:r>
              <a:t>CAPSTONE PROJECT REVIEW  |  QUANTUM COMPUTING</a:t>
            </a:r>
          </a:p>
          <a:p>
            <a:pPr>
              <a:spcBef>
                <a:spcPts val="1400"/>
              </a:spcBef>
              <a:defRPr sz="5400" b="1">
                <a:solidFill>
                  <a:srgbClr val="FFFFFF"/>
                </a:solidFill>
              </a:defRPr>
            </a:pPr>
            <a:r>
              <a:t>QuantumScreen</a:t>
            </a:r>
          </a:p>
          <a:p>
            <a:pPr>
              <a:spcBef>
                <a:spcPts val="1000"/>
              </a:spcBef>
              <a:defRPr sz="2200">
                <a:solidFill>
                  <a:srgbClr val="DCD7F0"/>
                </a:solidFill>
              </a:defRPr>
            </a:pPr>
            <a:r>
              <a:t>A Quantum Computing-Based Drug Screening System to Identify Promising Drug Candidates</a:t>
            </a:r>
          </a:p>
          <a:p>
            <a:pPr>
              <a:spcBef>
                <a:spcPts val="3600"/>
              </a:spcBef>
              <a:defRPr sz="1600">
                <a:solidFill>
                  <a:srgbClr val="FFFFFF"/>
                </a:solidFill>
              </a:defRPr>
            </a:pPr>
            <a:r>
              <a:t>Student Name: G Veda Kartik</a:t>
            </a:r>
            <a:br/>
            <a:r>
              <a:t>Roll Number: CH.SC.U4CSE24212</a:t>
            </a:r>
            <a:br/>
            <a:r>
              <a:t>Degree: B.Tech Computer Science and Engineering</a:t>
            </a:r>
            <a:br/>
            <a:r>
              <a:t>Institution: Amrita Vishwa Vidyapeetham, Chennai</a:t>
            </a:r>
            <a:br/>
            <a:r>
              <a:t>Review Date: October 2026</a:t>
            </a:r>
          </a:p>
        </p:txBody>
      </p:sp>
      <p:pic>
        <p:nvPicPr>
          <p:cNvPr id="4" name="Picture 3" descr="08_kernel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6459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PROBLEM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2: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6C3FC5"/>
                </a:solidFill>
              </a:defRPr>
            </a:pPr>
            <a:r>
              <a:t>What is the Problem?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Pharmaceutical drug discovery takes over 10–15 years and costs $1–2.6 billion per approved drug.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Over 90% of candidate molecules fail in clinical trials due to lack of efficacy or unanticipated toxicity.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Target Focus: BACE-1 (beta-secretase 1), an essential enzyme in Alzheimer's disease pathology responsible for toxic amyloid-beta plaque accumulation.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The chemical space of pharmacologically viable drug-like molecules is astronomically vast (~10^60 compounds), rendering exhaustive wet-lab screening physically impossible.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A9D8F"/>
                </a:solidFill>
              </a:defRPr>
            </a:pPr>
            <a:r>
              <a:t>Why Does It Need to be Solved?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Virtual screening acts as a high-throughput computational funnel, computationally prioritizing only the top 0.1% most promising leads for physical assay.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Alzheimer's disease has an urgent unmet medical need with devastating global health and economic impacts.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Classical machine learning struggles with non-linear correlations in sparse molecular representations without severe heuristic approximations.</a:t>
            </a:r>
          </a:p>
          <a:p>
            <a:pPr>
              <a:spcBef>
                <a:spcPts val="1200"/>
              </a:spcBef>
              <a:defRPr sz="1400">
                <a:solidFill>
                  <a:srgbClr val="1B1340"/>
                </a:solidFill>
              </a:defRPr>
            </a:pPr>
            <a:r>
              <a:t>• Quantum Computing offers exponentially large Hilbert spaces (2^n states for n qubits), providing natural mathematical geometry for complex molecular similarity and combinatorial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PROPOSED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3: Project Objectives &amp; Algorithmic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488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3FC5"/>
                </a:solidFill>
              </a:defRPr>
            </a:pPr>
            <a:r>
              <a:t>1. End-to-End Hybrid Screening Pipeline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Build a complete pipeline from raw SMILES chemical strings to ranked, drug-like molecular leads using Qiskit, RDKit, and scikit-learn.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21488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A9D8F"/>
                </a:solidFill>
              </a:defRPr>
            </a:pPr>
            <a:r>
              <a:t>2. Quantum Machine Learning for Scoring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Implement a Quantum-Kernel Support Vector Machine (QSVC) using parameterised ZZ-feature maps to map molecules into a 2^8 Hilbert space.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21488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76F51"/>
                </a:solidFill>
              </a:defRPr>
            </a:pPr>
            <a:r>
              <a:t>3. Combinatorial Diversity Selection (QAOA)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Formulate candidate batch selection as a QUBO balancing potency against Tanimoto redundancy, solved via QAOA on simulated statevectors.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429000" cy="21488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C3FC5"/>
                </a:solidFill>
              </a:defRPr>
            </a:pPr>
            <a:r>
              <a:t>4. Rigorous Classical Benchmarking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Evaluate against tuned classical RBF-SVM and Random Forests on identical splits and features to rigorously quantify if quantum advantage exists.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023360"/>
            <a:ext cx="3429000" cy="21488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0624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A9D8F"/>
                </a:solidFill>
              </a:defRPr>
            </a:pPr>
            <a:r>
              <a:t>5. Quantum Chemistry Foundation (VQE)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Implement Variational Quantum Eigensolver (VQE) with UCCSD ansatz on H2 and LiH to demonstrate ground-state energy computation.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4023360"/>
            <a:ext cx="3429000" cy="21488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206240"/>
            <a:ext cx="30632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76F51"/>
                </a:solidFill>
              </a:defRPr>
            </a:pPr>
            <a:r>
              <a:t>6. Production UI &amp; Reproducibility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Deliver an interactive Streamlit web dashboard for live screening, backed by automated unit tests and reproducible CLI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ALGORITHM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4: Proposed Algorithm — Quantum Kernel SVM (QSVC)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C3FC5"/>
                </a:solidFill>
              </a:defRPr>
            </a:pPr>
            <a:r>
              <a:t>Algorithm: Fidelity Quantum Kernel SVM</a:t>
            </a:r>
          </a:p>
          <a:p>
            <a:pPr>
              <a:spcBef>
                <a:spcPts val="700"/>
              </a:spcBef>
              <a:defRPr sz="1300">
                <a:solidFill>
                  <a:srgbClr val="1B1340"/>
                </a:solidFill>
              </a:defRPr>
            </a:pPr>
            <a:r>
              <a:t>1. Featurisation: SMILES -&gt; 2048-bit Morgan Fingerprint (radius 2 / ECFP4).</a:t>
            </a:r>
          </a:p>
          <a:p>
            <a:pPr>
              <a:spcBef>
                <a:spcPts val="700"/>
              </a:spcBef>
              <a:defRPr sz="1300">
                <a:solidFill>
                  <a:srgbClr val="1B1340"/>
                </a:solidFill>
              </a:defRPr>
            </a:pPr>
            <a:r>
              <a:t>2. Dimensionality Reduction: PCA compresses 2048 bits into n=8 orthogonal components (fitted on train split only).</a:t>
            </a:r>
          </a:p>
          <a:p>
            <a:pPr>
              <a:spcBef>
                <a:spcPts val="700"/>
              </a:spcBef>
              <a:defRPr sz="1300">
                <a:solidFill>
                  <a:srgbClr val="1B1340"/>
                </a:solidFill>
              </a:defRPr>
            </a:pPr>
            <a:r>
              <a:t>3. Quantum Feature Mapping: Angles scaled to [0, pi] and loaded into an 8-qubit register via a parameterised ZZ feature map:</a:t>
            </a:r>
          </a:p>
          <a:p>
            <a:pPr>
              <a:spcBef>
                <a:spcPts val="700"/>
              </a:spcBef>
              <a:defRPr sz="1300">
                <a:solidFill>
                  <a:srgbClr val="1B1340"/>
                </a:solidFill>
              </a:defRPr>
            </a:pPr>
            <a:r>
              <a:t>   |phi(x)&gt; = U_ZZ(x) |0&gt;^n = exp(i sum x_j Z_j + sum (pi - x_j)(pi - x_k) Z_j Z_k) H^n |0&gt;^n</a:t>
            </a:r>
          </a:p>
          <a:p>
            <a:pPr>
              <a:spcBef>
                <a:spcPts val="700"/>
              </a:spcBef>
              <a:defRPr sz="1300">
                <a:solidFill>
                  <a:srgbClr val="1B1340"/>
                </a:solidFill>
              </a:defRPr>
            </a:pPr>
            <a:r>
              <a:t>4. Quantum Kernel Gram Matrix: Computes transition fidelity in 2^8 Hilbert space:</a:t>
            </a:r>
          </a:p>
          <a:p>
            <a:pPr>
              <a:spcBef>
                <a:spcPts val="700"/>
              </a:spcBef>
              <a:defRPr sz="1300">
                <a:solidFill>
                  <a:srgbClr val="1B1340"/>
                </a:solidFill>
              </a:defRPr>
            </a:pPr>
            <a:r>
              <a:t>   K(x_i, x_j) = |&lt;phi(x_i)|phi(x_j)&gt;|^2</a:t>
            </a:r>
          </a:p>
          <a:p>
            <a:pPr>
              <a:spcBef>
                <a:spcPts val="700"/>
              </a:spcBef>
              <a:defRPr sz="1300">
                <a:solidFill>
                  <a:srgbClr val="1B1340"/>
                </a:solidFill>
              </a:defRPr>
            </a:pPr>
            <a:r>
              <a:t>5. Dual SVM Optimization: Solves classical quadratic program to find optimal separating hyperplane with precomputed quantum Gram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645920"/>
            <a:ext cx="493776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zz_featur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4572000" cy="1371600"/>
          </a:xfrm>
          <a:prstGeom prst="rect">
            <a:avLst/>
          </a:prstGeom>
        </p:spPr>
      </p:pic>
      <p:pic>
        <p:nvPicPr>
          <p:cNvPr id="9" name="Picture 8" descr="08_kernel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65760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ALGORITHM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5: Pseudocode &amp; Multi-Stage Algorithmic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B1340"/>
                </a:solidFill>
                <a:latin typeface="Consolas"/>
              </a:defRPr>
            </a:pPr>
            <a:r>
              <a:t>ALGORITHM: QuantumScreen Virtual Screening &amp; Diversity Selection Pipeline</a:t>
            </a:r>
            <a:br/>
            <a:r>
              <a:t>INPUT: Molecular library SMILES strings {m_1, ..., m_N}, Training labels y in {0, 1}^N</a:t>
            </a:r>
            <a:br/>
            <a:r>
              <a:t>OUTPUT: Ranked candidate scores, Selected batch of K diverse active compounds</a:t>
            </a:r>
            <a:br/>
            <a:br/>
            <a:r>
              <a:t>STAGE 1: QUANTUM KERNEL EVALUATION &amp; CLASSIFICATION</a:t>
            </a:r>
            <a:br/>
            <a:r>
              <a:t>  1: For each molecule m_i in Dataset:</a:t>
            </a:r>
            <a:br/>
            <a:r>
              <a:t>  2:     x_raw = MorganFingerprint(m_i, radius=2, n_bits=2048)</a:t>
            </a:r>
            <a:br/>
            <a:r>
              <a:t>  3: X_pca = PCA_fit_transform(X_train_raw, n_components=8)</a:t>
            </a:r>
            <a:br/>
            <a:r>
              <a:t>  4: Theta = MinMaxScale(X_pca, 0, pi)</a:t>
            </a:r>
            <a:br/>
            <a:r>
              <a:t>  5: For each vector theta_i in Theta:</a:t>
            </a:r>
            <a:br/>
            <a:r>
              <a:t>  6:     |phi(theta_i)&gt; = Statevector(ZZ_FeatureMap(theta_i, n_qubits=8, reps=2))</a:t>
            </a:r>
            <a:br/>
            <a:r>
              <a:t>  7: Compute Gram Matrix: K_ij = |&lt;phi(theta_i) | phi(theta_j)&gt;|^2</a:t>
            </a:r>
            <a:br/>
            <a:r>
              <a:t>  8: Train Dual SVM: alpha* = argmin 0.5 * alpha^T (K * y y^T) alpha - sum(alpha_i) s.t. 0 &lt;= alpha_i &lt;= C</a:t>
            </a:r>
            <a:br/>
            <a:r>
              <a:t>  9: Predict Hold-out Library: P_active(m) = PlattScale(sum alpha_i y_i K(theta_i, theta_new) + b)</a:t>
            </a:r>
            <a:br/>
            <a:br/>
            <a:r>
              <a:t>STAGE 2: MULTI-OBJECTIVE RANKING &amp; QAOA DIVERSITY SELECTION</a:t>
            </a:r>
            <a:br/>
            <a:r>
              <a:t> 10: Score(m) = 0.7 * P_active(m) + 0.3 * QED(m) - 0.10 * max(0, LipinskiViolations(m) - 1)</a:t>
            </a:r>
            <a:br/>
            <a:r>
              <a:t> 11: Shortlist top N candidates by Score(m); Compute pairwise Tanimoto similarity matrix S_ij</a:t>
            </a:r>
            <a:br/>
            <a:r>
              <a:t> 12: Define QUBO: Maximize J(x) = sum s_i x_i - lambda * sum_{i&lt;j} S_ij x_i x_j  subject to sum x_i = K</a:t>
            </a:r>
            <a:br/>
            <a:r>
              <a:t> 13: Map QUBO to Ising Hamiltonian: H_C = sum h_i Z_i + sum J_ij Z_i Z_j + const</a:t>
            </a:r>
            <a:br/>
            <a:r>
              <a:t> 14: Prepare |+&gt;^N; Apply p layers of QAOA: |gamma, beta&gt; = prod_{l=1}^p [ exp(-i beta_l sum X) exp(-i gamma_l H_C) ] |+&gt;^N</a:t>
            </a:r>
            <a:br/>
            <a:r>
              <a:t> 15: Optimize (gamma, beta) using COBYLA; Sample 1024 shots -&gt; Return optimal feasible batch of K candidates.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6: Computational Complexity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C3FC5"/>
                </a:solidFill>
              </a:defRPr>
            </a:pPr>
            <a:r>
              <a:t>Time Complexity Analysis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Fingerprint &amp; PCA: O(N * d) where d=2048, N=1513 molecules (Classical preprocessing).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Statevector Preparation: O(N * 2^n) where n=8 qubits (each state computed once in linear algebra).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Quantum Kernel Evaluation: O(N^2 * 2^n) via matrix multiplication |S S^dag|^2 in simulation.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   -&gt; On Fault-Tolerant Quantum Hardware: O(N^2 * M * D) where M is shot budget and D is circuit depth (bypasses 2^n exponential statevector simulation!).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SVM Dual Training: O(N_sv^3) standard quadratic programming solver.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QAOA Execution: O(p * 2^n * N_iter) in classical statevector simulation vs O(p * M * N_iter) on quantum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9D8F"/>
                </a:solidFill>
              </a:defRPr>
            </a:pPr>
            <a:r>
              <a:t>Space Complexity Analysis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Classical Simulation Memory: O(2^n) complex amplitudes per quantum statevector. For n=8, 2^8 = 256 complex numbers (trivial); for n=30, exceeds 16 GB RAM.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Physical Quantum Register Memory: O(n) qubits! This represents an exponential spatial compression on physical quantum processors.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Precomputed Kernel Matrix: O(N^2) memory footprint to store the pairwise N x N similarity Gram matrix (1513 x 1513 floats ≈ 18 MB).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QAOA Parameter Storage: O(2p) variational parameters (gamma_l, beta_l) where depth p in {1, 2, 3} (minimal classical memory overhead).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Classical Feature Storage: Reduced from 2048 bits to 8 floats per molecule (256x compression ratio).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TECHNOLOGY &amp;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7: Implementation Details &amp; Code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38912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023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C3FC5"/>
                </a:solidFill>
              </a:defRPr>
            </a:pPr>
            <a:r>
              <a:t>Stack &amp; Architecture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Language: Python 3.11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Quantum Computing: Qiskit 2.5, Qiskit Machine Learning 0.9, Qiskit Nature 0.8, Qiskit Algorithms 0.4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Cheminformatics: RDKit (Morgan fingerprints, Lipinski rules, QED, Murcko scaffolds)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Machine Learning: scikit-learn (SVM, Random Forest, PCA, cross-validation)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Web Deployment: Streamlit (interactive UI)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• Testing: pytest (21 automated unit tests verifying mathematical PSD property, Qiskit equivalence, and Ising conservation)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645920"/>
            <a:ext cx="603504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28800"/>
            <a:ext cx="5669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A9D8F"/>
                </a:solidFill>
              </a:defRPr>
            </a:pPr>
            <a:r>
              <a:t>Core Implementation Code Snippet</a:t>
            </a:r>
          </a:p>
          <a:p>
            <a:pPr>
              <a:spcBef>
                <a:spcPts val="600"/>
              </a:spcBef>
              <a:defRPr sz="1100">
                <a:solidFill>
                  <a:srgbClr val="1B1340"/>
                </a:solidFill>
                <a:latin typeface="Consolas"/>
              </a:defRPr>
            </a:pPr>
            <a:r>
              <a:t># Optimized Quantum Kernel &amp; State Evaluation</a:t>
            </a:r>
            <a:br/>
            <a:r>
              <a:t>def compute_states(circuit, X: np.ndarray) -&gt; np.ndarray:</a:t>
            </a:r>
            <a:br/>
            <a:r>
              <a:t>    """Compute statevectors once for all samples (O(N) not O(N^2))."""</a:t>
            </a:r>
            <a:br/>
            <a:r>
              <a:t>    return np.array([Statevector(circuit.assign_parameters(x)).data for x in X])</a:t>
            </a:r>
            <a:br/>
            <a:br/>
            <a:r>
              <a:t>def fidelity_kernel(states_a, states_b) -&gt; np.ndarray:</a:t>
            </a:r>
            <a:br/>
            <a:r>
              <a:t>    """Exact Gram Matrix: |&lt;phi_a|phi_b&gt;|^2."""</a:t>
            </a:r>
            <a:br/>
            <a:r>
              <a:t>    return np.abs(states_a.conj() @ states_b.T) ** 2</a:t>
            </a:r>
            <a:br/>
            <a:br/>
            <a:r>
              <a:t># Hybrid Quantum-Kernel Support Vector Machine</a:t>
            </a:r>
            <a:br/>
            <a:r>
              <a:t>class QuantumKernelSVM(BaseEstimator, ClassifierMixin):</a:t>
            </a:r>
            <a:br/>
            <a:r>
              <a:t>    def fit(self, X, y):</a:t>
            </a:r>
            <a:br/>
            <a:r>
              <a:t>        self.circuit_ = build_feature_map(self.feature_map, n_qubits=8, reps=2)</a:t>
            </a:r>
            <a:br/>
            <a:r>
              <a:t>        self.train_states_ = compute_states(self.circuit_, X * self.scale)</a:t>
            </a:r>
            <a:br/>
            <a:r>
              <a:t>        K = fidelity_kernel(self.train_states_, self.train_states_)</a:t>
            </a:r>
            <a:br/>
            <a:r>
              <a:t>        self.svc_ = SVC(kernel="precomputed", C=self.C, probability=True).fit(K, y)</a:t>
            </a:r>
            <a:br/>
            <a:r>
              <a:t>        return self</a:t>
            </a:r>
            <a:br/>
            <a:br/>
            <a:r>
              <a:t>    def predict_proba(self, X):</a:t>
            </a:r>
            <a:br/>
            <a:r>
              <a:t>        test_states = compute_states(self.circuit_, X * self.scale)</a:t>
            </a:r>
            <a:br/>
            <a:r>
              <a:t>        K_test = fidelity_kernel(test_states, self.train_states_)</a:t>
            </a:r>
            <a:br/>
            <a:r>
              <a:t>        return self.svc_.predict_proba(K_test)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BENCHMARKING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8: Results &amp; Analysis — Virtual Screening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6692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C3FC5"/>
                </a:solidFill>
              </a:defRPr>
            </a:pPr>
            <a:r>
              <a:t>Benchmark Results (1,513 BACE Molecules)</a:t>
            </a:r>
          </a:p>
          <a:p>
            <a:pPr>
              <a:spcBef>
                <a:spcPts val="600"/>
              </a:spcBef>
              <a:defRPr sz="1100">
                <a:solidFill>
                  <a:srgbClr val="1B1340"/>
                </a:solidFill>
                <a:latin typeface="Consolas"/>
              </a:defRPr>
            </a:pPr>
            <a:r>
              <a:t>Model Architecture              ROC-AUC          EF@10%    Time (s)</a:t>
            </a:r>
            <a:br/>
            <a:r>
              <a:t>Random Forest (2048-bit FP)    0.916 ± 0.006    2.10       1.7 s</a:t>
            </a:r>
            <a:br/>
            <a:r>
              <a:t>Classical RBF-SVM (8 PCA)      0.879 ± 0.007    1.98       4.4 s</a:t>
            </a:r>
            <a:br/>
            <a:r>
              <a:t>Random Forest (8 PCA)          0.877 ± 0.015    2.07       0.8 s</a:t>
            </a:r>
            <a:br/>
            <a:r>
              <a:t>Quantum Kernel SVM (8 qubits)  0.873 ± 0.011    2.07      11.1 s</a:t>
            </a:r>
            <a:br/>
            <a:r>
              <a:t>Variational Classifier (VQC)   0.625 ± 0.056    --       119.0 s</a:t>
            </a:r>
            <a:br/>
            <a:br/>
            <a:r>
              <a:t>Key Analytical Findings:</a:t>
            </a:r>
            <a:br/>
            <a:r>
              <a:t>• No Quantum Advantage: Quantum-kernel SVM (0.873) matches but does not beat classical SVM (0.879).</a:t>
            </a:r>
            <a:br/>
            <a:r>
              <a:t>• Bottleneck Identified: Compressing 2048 bits into 8 PCA components retains only ~36% variance.</a:t>
            </a:r>
            <a:br/>
            <a:r>
              <a:t>• Entanglement: The unentangled Z map (0.877) matches the entangling ZZ map (0.873).</a:t>
            </a:r>
            <a:br/>
            <a:r>
              <a:t>• Virtual Screening Precision: On a held-out library of 303 molecules, the quantum score placed 24 of its top 25 picks in the active class!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645920"/>
            <a:ext cx="47548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389120" cy="2194560"/>
          </a:xfrm>
          <a:prstGeom prst="rect">
            <a:avLst/>
          </a:prstGeom>
        </p:spPr>
      </p:pic>
      <p:pic>
        <p:nvPicPr>
          <p:cNvPr id="9" name="Picture 8" descr="02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114800"/>
            <a:ext cx="438912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OPTIMIZATION &amp;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9: Results &amp; Analysis — QAOA Selection &amp; VQE Chemistry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6F51"/>
                </a:solidFill>
              </a:defRPr>
            </a:pPr>
            <a:r>
              <a:t>QAOA Combinatorial Selection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Problem: Select K=4 diverse candidates from top N=12 leads.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Score-only Top-K selects 3 near-duplicate analogues (pairwise Tanimoto similarity = 0.46, objective J = 1.96).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Diversity-aware QAOA &amp; Exact solver achieve J = 2.88 and reduce redundant similarity to 0.14!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Honest Diagnostic: Best-of-shots achieves 99-100% of optimum, but random search with 1024 shots does equally well because search spaces are small (56 to 1001 feasible subsets).</a:t>
            </a:r>
          </a:p>
        </p:txBody>
      </p:sp>
      <p:pic>
        <p:nvPicPr>
          <p:cNvPr id="7" name="Picture 6" descr="12b_selected_molecules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4846320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A9D8F"/>
                </a:solidFill>
              </a:defRPr>
            </a:pPr>
            <a:r>
              <a:t>VQE Molecular Ground-State Energies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Quantum Chemistry Demonstration: Computing ground-state energies underlying drug-target binding.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System: H2 (2 qubits, 3 params) and LiH (4 qubits in active space, 8 params).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Ansatz: Unitary Coupled Cluster (UCCSD) with Hartree-Fock reference state.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Accuracy: Max error &lt; 0.001 mHa against exact Full Configuration Interaction (Chemical accuracy is 1.6 mHa).</a:t>
            </a:r>
          </a:p>
          <a:p>
            <a:pPr>
              <a:spcBef>
                <a:spcPts val="600"/>
              </a:spcBef>
              <a:defRPr sz="1300">
                <a:solidFill>
                  <a:srgbClr val="1B1340"/>
                </a:solidFill>
              </a:defRPr>
            </a:pPr>
            <a:r>
              <a:t>• H2 equilibrium energy at 0.74 A is -1.137 Ha, exactly matching STO-3G theory.</a:t>
            </a:r>
          </a:p>
        </p:txBody>
      </p:sp>
      <p:pic>
        <p:nvPicPr>
          <p:cNvPr id="10" name="Picture 9" descr="09_vqe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114800"/>
            <a:ext cx="48463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SYSTEM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10: Interactive Web Application (Streamlit)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C3FC5"/>
                </a:solidFill>
              </a:defRPr>
            </a:pPr>
            <a:r>
              <a:t>Production Web Dashboard Capabilities (Running on localhost:8501)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Tab 1: Single Molecule Screening: Input custom SMILES strings or select benchmarks (e.g. Aspirin vs known BACE inhibitors). Visualizes real-time 2D molecular structures (RDKit), predicted Quantum P(active), Classical SVM P(active), and full Lipinski / QED drug-likeness profiles.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Tab 2: High-Throughput Batch Screening: Paste multi-line SMILES or upload screening CSV libraries. Executes vectorized quantum encoding and outputs ranked leads combining quantum affinity and drug-likeness, downloadable as CSV.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Tab 3: Benchmark Analytics &amp; Diagnostics: Interactive inspection of full experimental benchmark metrics, ROC curves, qubit ablations, feature map comparisons, and QAOA distributions.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Tab 4: Documentation &amp; Transparent Disclosures: Comprehensive methodology, parameter logs, and scientific limitations displayed directly in the user interface.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Deployment &amp; Performance: Built on Streamlit with joblib cached model persistence, executing single-molecule quantum scoring in &lt; 100 milliseconds.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PROJECT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11: Honest Scientific Limitations &amp; viva Defense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76F51"/>
                </a:solidFill>
              </a:defRPr>
            </a:pPr>
            <a:r>
              <a:t>Critical Limitations (Transparent Scientific Disclosures)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1. Classical Simulation: All circuits are simulated with noiseless statevectors; real quantum hardware introduces gate infidelities and shot noise.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2. No Quantum Advantage: The quantum kernel matches (0.873) but does not beat classical SVM (0.879). Classical Random Forest on 2048-bit fingerprints reaches 0.916.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3. PCA Dimensionality Bottleneck: Compressing 2048 fingerprint bits into 8 qubits discards ~64% of chemical variance.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4. Ligand-Based Only: Screening evaluates 2D similarity to known binders; it does not model 3D target binding pocket physics or molecular docking.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5. Single Target Scope: Evaluated on 1,513 BACE-1 molecules; cross-target generalization requires broader evaluation.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6. Toy Molecule Chemistry: VQE is demonstrated on small molecules (H2, LiH); drug-sized molecules exceed current quantum hardware capabilities.</a:t>
            </a:r>
          </a:p>
          <a:p>
            <a:pPr>
              <a:spcBef>
                <a:spcPts val="800"/>
              </a:spcBef>
              <a:defRPr sz="1300">
                <a:solidFill>
                  <a:srgbClr val="1B1340"/>
                </a:solidFill>
              </a:defRPr>
            </a:pPr>
            <a:r>
              <a:t>7. QAOA Penalty Formulation: Embeds cardinality as a penalty; between 48% and 78% of sampled probability mass lands on infeasible bitstrings.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C3FC5"/>
                </a:solidFill>
              </a:defRPr>
            </a:pPr>
            <a:r>
              <a:t>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1340"/>
                </a:solidFill>
              </a:defRPr>
            </a:pPr>
            <a:r>
              <a:t>Slide 12: 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C3FC5"/>
                </a:solidFill>
              </a:defRPr>
            </a:pPr>
            <a:r>
              <a:t>Project Conclusions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Successfully developed an end-to-end hybrid quantum virtual screening pipeline for BACE-1 inhibitors.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Quantum-kernel SVM demonstrated competitive predictive efficacy (AUC 0.873, EF@10% 2.07), identifying 24 actives in top 25 picks.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Diversity-aware QAOA successfully decoupled near-duplicate compounds, reducing redundant similarity from 0.46 to 0.14.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Established an honest, peer-reviewed benchmark proving that near-term quantum advantage in ligand screening is currently bounded by classical data compression.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A9D8F"/>
                </a:solidFill>
              </a:defRPr>
            </a:pPr>
            <a:r>
              <a:t>Future Work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Hardware Deployment: Run optimized circuits on physical IBM Quantum superconducting hardware with Zero-Noise Extrapolation.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Learned Latent Spaces: Replace linear PCA with Graph Neural Network (GNN) molecular embeddings prior to quantum encoding.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Constraint-Preserving QAOA: Implement XY mixers and Dicke state initialization to enforce exact cardinality without penalty loss.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Trainable Quantum Kernels: Utilize Quantum Kernel Alignment (QKA) to optimize feature map parameters directly on molecular binding data.</a:t>
            </a:r>
          </a:p>
          <a:p>
            <a:pPr>
              <a:spcBef>
                <a:spcPts val="1000"/>
              </a:spcBef>
              <a:defRPr sz="1400">
                <a:solidFill>
                  <a:srgbClr val="1B1340"/>
                </a:solidFill>
              </a:defRPr>
            </a:pPr>
            <a:r>
              <a:t>• Hybrid Docking Integration: Combine quantum scores with MM-GBSA free energy calculations.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spcBef>
                <a:spcPts val="1400"/>
              </a:spcBef>
              <a:defRPr sz="2600">
                <a:solidFill>
                  <a:srgbClr val="B8A1E3"/>
                </a:solidFill>
              </a:defRPr>
            </a:pPr>
            <a:r>
              <a:t>Open for Questions &amp; Evaluation</a:t>
            </a:r>
          </a:p>
          <a:p>
            <a:pPr algn="ctr">
              <a:spcBef>
                <a:spcPts val="2800"/>
              </a:spcBef>
              <a:defRPr sz="1800">
                <a:solidFill>
                  <a:srgbClr val="FFFFFF"/>
                </a:solidFill>
              </a:defRPr>
            </a:pPr>
            <a:r>
              <a:t>G Veda Kartik (CH.SC.U4CSE24212)</a:t>
            </a:r>
            <a:br/>
            <a:r>
              <a:t>Department of Computer Science and Engineering</a:t>
            </a:r>
            <a:br/>
            <a:r>
              <a:t>Amrita Vishwa Vidyapeetham, Chennai</a:t>
            </a:r>
            <a:br/>
            <a:r>
              <a:t>Capstone Project: Quantum Computing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