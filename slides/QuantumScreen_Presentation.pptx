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4beff4-654b-56de-f8f1-6c7e5e818906}">
          <p14:sldIdLst>
            <p14:sldId id="256"/>
            <p14:sldId id="257"/>
            <p14:sldId id="258"/>
          </p14:sldIdLst>
        </p14:section>
        <p14:section name="Method" id="{ee885eed-378d-c809-0116-46749dacb600}">
          <p14:sldIdLst>
            <p14:sldId id="259"/>
          </p14:sldIdLst>
        </p14:section>
        <p14:section name="Results" id="{de848d9e-9c6b-2e87-b81b-d14d7736b4ab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97a13c94-e24f-31e8-c5c9-50df7184c7c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ROC-AUC, random split (mean of 3 seeds)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3FC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 (full fingerprint)</c:v>
                  </c:pt>
                  <c:pt idx="1">
                    <c:v>Classical SVM (8 features)</c:v>
                  </c:pt>
                  <c:pt idx="2">
                    <c:v>Random Forest (8 features)</c:v>
                  </c:pt>
                  <c:pt idx="3">
                    <c:v>Quantum kernel SVM (8 qubits)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0.916</c:v>
                </c:pt>
                <c:pt idx="1">
                  <c:v>0.879</c:v>
                </c:pt>
                <c:pt idx="2">
                  <c:v>0.877</c:v>
                </c:pt>
                <c:pt idx="3">
                  <c:v>0.873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ROC-AUC vs number of qubits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Quantum kernel SVM</c:v>
                </c:pt>
              </c:strCache>
            </c:strRef>
          </c:tx>
          <c:spPr>
            <a:solidFill>
              <a:srgbClr val="6C3FC5"/>
            </a:solidFill>
            <a:ln w="38100" cap="flat">
              <a:solidFill>
                <a:srgbClr val="6C3F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6C3FC5"/>
              </a:solidFill>
              <a:ln w="9525" cap="flat">
                <a:solidFill>
                  <a:srgbClr val="6C3F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 qubits</c:v>
                  </c:pt>
                  <c:pt idx="1">
                    <c:v>6 qubits</c:v>
                  </c:pt>
                  <c:pt idx="2">
                    <c:v>8 qubits</c:v>
                  </c:pt>
                  <c:pt idx="3">
                    <c:v>10 qubits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0.837</c:v>
                </c:pt>
                <c:pt idx="1">
                  <c:v>0.854</c:v>
                </c:pt>
                <c:pt idx="2">
                  <c:v>0.873</c:v>
                </c:pt>
                <c:pt idx="3">
                  <c:v>0.867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RBF SVM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 qubits</c:v>
                  </c:pt>
                  <c:pt idx="1">
                    <c:v>6 qubits</c:v>
                  </c:pt>
                  <c:pt idx="2">
                    <c:v>8 qubits</c:v>
                  </c:pt>
                  <c:pt idx="3">
                    <c:v>10 qubits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0.843</c:v>
                </c:pt>
                <c:pt idx="1">
                  <c:v>0.882</c:v>
                </c:pt>
                <c:pt idx="2">
                  <c:v>0.879</c:v>
                </c:pt>
                <c:pt idx="3">
                  <c:v>0.88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2"/>
        </c:scaling>
        <c:delete val="0"/>
        <c:axPos val="l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3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Feature maps (8 qubits)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6C3FC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zz_full r2</c:v>
                  </c:pt>
                  <c:pt idx="1">
                    <c:v>z r2</c:v>
                  </c:pt>
                  <c:pt idx="2">
                    <c:v>zz r1</c:v>
                  </c:pt>
                  <c:pt idx="3">
                    <c:v>zz r2</c:v>
                  </c:pt>
                  <c:pt idx="4">
                    <c:v>pauli_yzz r2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0.881</c:v>
                </c:pt>
                <c:pt idx="1">
                  <c:v>0.877</c:v>
                </c:pt>
                <c:pt idx="2">
                  <c:v>0.874</c:v>
                </c:pt>
                <c:pt idx="3">
                  <c:v>0.873</c:v>
                </c:pt>
                <c:pt idx="4">
                  <c:v>0.869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"/>
        </c:scaling>
        <c:delete val="0"/>
        <c:axPos val="b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ROC-AUC: random vs scaffold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B8A1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Classical SVM</c:v>
                  </c:pt>
                  <c:pt idx="1">
                    <c:v>Quantum kernel SVM</c:v>
                  </c:pt>
                  <c:pt idx="2">
                    <c:v>Random Forest (full FP)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0.879</c:v>
                </c:pt>
                <c:pt idx="1">
                  <c:v>0.873</c:v>
                </c:pt>
                <c:pt idx="2">
                  <c:v>0.916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Scaffold split</c:v>
                </c:pt>
              </c:strCache>
            </c:strRef>
          </c:tx>
          <c:spPr>
            <a:solidFill>
              <a:srgbClr val="4B2A9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Classical SVM</c:v>
                  </c:pt>
                  <c:pt idx="1">
                    <c:v>Quantum kernel SVM</c:v>
                  </c:pt>
                  <c:pt idx="2">
                    <c:v>Random Forest (full FP)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0.667</c:v>
                </c:pt>
                <c:pt idx="1">
                  <c:v>0.677</c:v>
                </c:pt>
                <c:pt idx="2">
                  <c:v>0.781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3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ROC-AUC with 200 training molecules, 6 qubits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3F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A1E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Classical SVM</c:v>
                  </c:pt>
                  <c:pt idx="1">
                    <c:v>Quantum kernel SVM</c:v>
                  </c:pt>
                  <c:pt idx="2">
                    <c:v>VQC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0.828</c:v>
                </c:pt>
                <c:pt idx="1">
                  <c:v>0.811</c:v>
                </c:pt>
                <c:pt idx="2">
                  <c:v>0.625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Objective / exact optimum, mean of 8 shortlists per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Top-K by score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N=8</c:v>
                  </c:pt>
                  <c:pt idx="1">
                    <c:v>N=10</c:v>
                  </c:pt>
                  <c:pt idx="2">
                    <c:v>N=12</c:v>
                  </c:pt>
                  <c:pt idx="3">
                    <c:v>N=14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0.921</c:v>
                </c:pt>
                <c:pt idx="1">
                  <c:v>0.907</c:v>
                </c:pt>
                <c:pt idx="2">
                  <c:v>0.886</c:v>
                </c:pt>
                <c:pt idx="3">
                  <c:v>0.779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feasible subset</c:v>
                </c:pt>
              </c:strCache>
            </c:strRef>
          </c:tx>
          <c:spPr>
            <a:solidFill>
              <a:srgbClr val="9CA3AF"/>
            </a:solidFill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N=8</c:v>
                  </c:pt>
                  <c:pt idx="1">
                    <c:v>N=10</c:v>
                  </c:pt>
                  <c:pt idx="2">
                    <c:v>N=12</c:v>
                  </c:pt>
                  <c:pt idx="3">
                    <c:v>N=14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0.894</c:v>
                </c:pt>
                <c:pt idx="1">
                  <c:v>0.887</c:v>
                </c:pt>
                <c:pt idx="2">
                  <c:v>0.837</c:v>
                </c:pt>
                <c:pt idx="3">
                  <c:v>0.83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Diversity-aware greedy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N=8</c:v>
                  </c:pt>
                  <c:pt idx="1">
                    <c:v>N=10</c:v>
                  </c:pt>
                  <c:pt idx="2">
                    <c:v>N=12</c:v>
                  </c:pt>
                  <c:pt idx="3">
                    <c:v>N=14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0.999</c:v>
                </c:pt>
                <c:pt idx="1">
                  <c:v>0.999</c:v>
                </c:pt>
                <c:pt idx="2">
                  <c:v>1</c:v>
                </c:pt>
                <c:pt idx="3">
                  <c:v>0.998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QAOA p=3, best of 1024 shots</c:v>
                </c:pt>
              </c:strCache>
            </c:strRef>
          </c:tx>
          <c:spPr>
            <a:solidFill>
              <a:srgbClr val="6C3FC5"/>
            </a:solidFill>
            <a:ln w="38100" cap="flat">
              <a:solidFill>
                <a:srgbClr val="6C3F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C3FC5"/>
              </a:solidFill>
              <a:ln w="9525" cap="flat">
                <a:solidFill>
                  <a:srgbClr val="6C3F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N=8</c:v>
                  </c:pt>
                  <c:pt idx="1">
                    <c:v>N=10</c:v>
                  </c:pt>
                  <c:pt idx="2">
                    <c:v>N=12</c:v>
                  </c:pt>
                  <c:pt idx="3">
                    <c:v>N=14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0.999</c:v>
                </c:pt>
                <c:pt idx="3">
                  <c:v>0.993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 search, 1024 shots</c:v>
                </c:pt>
              </c:strCache>
            </c:strRef>
          </c:tx>
          <c:spPr>
            <a:solidFill>
              <a:srgbClr val="4B2A91"/>
            </a:solidFill>
            <a:ln w="38100" cap="flat">
              <a:solidFill>
                <a:srgbClr val="4B2A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B2A91"/>
              </a:solidFill>
              <a:ln w="9525" cap="flat">
                <a:solidFill>
                  <a:srgbClr val="4B2A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N=8</c:v>
                  </c:pt>
                  <c:pt idx="1">
                    <c:v>N=10</c:v>
                  </c:pt>
                  <c:pt idx="2">
                    <c:v>N=12</c:v>
                  </c:pt>
                  <c:pt idx="3">
                    <c:v>N=14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2"/>
          <c:min val="0.7"/>
        </c:scaling>
        <c:delete val="0"/>
        <c:axPos val="l"/>
        <c:majorGridlines>
          <c:spPr>
            <a:ln w="6350" cap="flat">
              <a:solidFill>
                <a:srgbClr val="D9D4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3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hybrid quantum-classical screening system built in Qiskit for BACE-1, an Alzheimer's target. The picture is the quantum kernel: similarity of molecules in an 8-qubit feature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and scope. Quantum models are simulated classically; the goal is a fair, honest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stages. Stress fairness: identical splits, identical PCA features and the same inner cross-validation for the classical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encode, compare, classify. The simulation is exact and noiseless, so there is no speed-up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result. Quantum-kernel SVM AUC 0.873 +/- 0.011 versus 0.879 +/- 0.007 for the classical SVM. No quantum advantage; 8 PCA components keep only about 36% of the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encodings are within 0.012 AUC, inside seed noise. The classical SVM is at least as good at every qubit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Generalisation to new chemotypes is the realistic screening scenario and it is much harder for all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optimiser step evaluates all training circuits, so the VQC is trained on a small balanced subset and compared on that same subset.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output is saved to results/ranked_candidates.csv and is browsable in the Streamlit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pairwise term this problem is solved exactly by sorting, so QAOA would be pointless. With the diversity term, score-only top-K is not optimal. The Ising mapping is verified exactly in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QAOA with p up to 3 and a small optimiser budget does not beat random sampling of feasible subsets. Only about a third of its probability mass is feasible because the budget is a penalty. A constraint-preserving XY mixer and warm starts are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quantum-chemistry route: molecular energies underlie binding. It is a demonstration and is not numerically coupled to the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the circuits are simulated and that no quantum advantage was found. The value is the pipeline, the fair benchmark and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CAPSTONE PROJECT  |  QUANTUM COMPUTING</a:t>
            </a:r>
            <a:endParaRPr lang="en-US" sz="1400" dirty="0"/>
          </a:p>
        </p:txBody>
      </p:sp>
      <p:sp>
        <p:nvSpPr>
          <p:cNvPr id="3" name="deck-title"/>
          <p:cNvSpPr txBox="1"/>
          <p:nvPr/>
        </p:nvSpPr>
        <p:spPr>
          <a:xfrm>
            <a:off x="731520" y="13716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QuantumScreen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2560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A quantum computing-based drug screening system to identify promising drug candidates</a:t>
            </a:r>
            <a:endParaRPr lang="en-US" sz="2400" dirty="0"/>
          </a:p>
        </p:txBody>
      </p:sp>
      <p:sp>
        <p:nvSpPr>
          <p:cNvPr id="5" name="author"/>
          <p:cNvSpPr txBox="1"/>
          <p:nvPr/>
        </p:nvSpPr>
        <p:spPr>
          <a:xfrm>
            <a:off x="731520" y="4846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G Veda Kartik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Roll No. CH.SC.U4CSE24212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Amrita Vishwa Vidyapeetham, Chennai</a:t>
            </a:r>
            <a:endParaRPr lang="en-US" sz="1600" dirty="0"/>
          </a:p>
        </p:txBody>
      </p:sp>
      <p:sp>
        <p:nvSpPr>
          <p:cNvPr id="6" name="kernel-frame"/>
          <p:cNvSpPr/>
          <p:nvPr/>
        </p:nvSpPr>
        <p:spPr>
          <a:xfrm>
            <a:off x="7498080" y="1463040"/>
            <a:ext cx="4572000" cy="404622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/>
        </p:spPr>
      </p:sp>
      <p:pic>
        <p:nvPicPr>
          <p:cNvPr id="7" name="kernel-matrix" descr="Quantum kernel matrix heat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45920"/>
            <a:ext cx="4206240" cy="3680460"/>
          </a:xfrm>
          <a:prstGeom prst="rect">
            <a:avLst/>
          </a:prstGeom>
        </p:spPr>
      </p:pic>
      <p:sp>
        <p:nvSpPr>
          <p:cNvPr id="8" name="kernel-caption"/>
          <p:cNvSpPr txBox="1"/>
          <p:nvPr/>
        </p:nvSpPr>
        <p:spPr>
          <a:xfrm>
            <a:off x="7498080" y="56464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Quantum kernel matrix of 150 BACE molecules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quantum drug screening?</a:t>
            </a:r>
            <a:endParaRPr lang="en-US" sz="3400" dirty="0"/>
          </a:p>
        </p:txBody>
      </p:sp>
      <p:sp>
        <p:nvSpPr>
          <p:cNvPr id="3" name="icon-circle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" descr="Screening is the bottlen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64792"/>
            <a:ext cx="402336" cy="402336"/>
          </a:xfrm>
          <a:prstGeom prst="rect">
            <a:avLst/>
          </a:prstGeom>
        </p:spPr>
      </p:pic>
      <p:sp>
        <p:nvSpPr>
          <p:cNvPr id="5" name="row-head"/>
          <p:cNvSpPr txBox="1"/>
          <p:nvPr/>
        </p:nvSpPr>
        <p:spPr>
          <a:xfrm>
            <a:off x="173736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is the bottleneck</a:t>
            </a:r>
            <a:endParaRPr lang="en-US" sz="2000" dirty="0"/>
          </a:p>
        </p:txBody>
      </p:sp>
      <p:sp>
        <p:nvSpPr>
          <p:cNvPr id="6" name="row-body"/>
          <p:cNvSpPr txBox="1"/>
          <p:nvPr/>
        </p:nvSpPr>
        <p:spPr>
          <a:xfrm>
            <a:off x="1737360" y="19385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Virtual screening ranks huge libraries so only the best few compounds are tested in the lab.</a:t>
            </a:r>
            <a:endParaRPr lang="en-US" sz="1500" dirty="0"/>
          </a:p>
        </p:txBody>
      </p:sp>
      <p:sp>
        <p:nvSpPr>
          <p:cNvPr id="7" name="icon-circle"/>
          <p:cNvSpPr/>
          <p:nvPr/>
        </p:nvSpPr>
        <p:spPr>
          <a:xfrm>
            <a:off x="640080" y="3108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Target: BAC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319272"/>
            <a:ext cx="402336" cy="402336"/>
          </a:xfrm>
          <a:prstGeom prst="rect">
            <a:avLst/>
          </a:prstGeom>
        </p:spPr>
      </p:pic>
      <p:sp>
        <p:nvSpPr>
          <p:cNvPr id="9" name="row-head"/>
          <p:cNvSpPr txBox="1"/>
          <p:nvPr/>
        </p:nvSpPr>
        <p:spPr>
          <a:xfrm>
            <a:off x="1737360" y="3063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BACE-1</a:t>
            </a:r>
            <a:endParaRPr lang="en-US" sz="2000" dirty="0"/>
          </a:p>
        </p:txBody>
      </p:sp>
      <p:sp>
        <p:nvSpPr>
          <p:cNvPr id="10" name="row-body"/>
          <p:cNvSpPr txBox="1"/>
          <p:nvPr/>
        </p:nvSpPr>
        <p:spPr>
          <a:xfrm>
            <a:off x="1737360" y="349300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Alzheimer's-disease enzyme. Dataset: 1513 inhibitors labelled active or inactive.</a:t>
            </a:r>
            <a:endParaRPr lang="en-US" sz="1500" dirty="0"/>
          </a:p>
        </p:txBody>
      </p:sp>
      <p:sp>
        <p:nvSpPr>
          <p:cNvPr id="11" name="icon-circle"/>
          <p:cNvSpPr/>
          <p:nvPr/>
        </p:nvSpPr>
        <p:spPr>
          <a:xfrm>
            <a:off x="640080" y="4663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The quantum ide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873752"/>
            <a:ext cx="402336" cy="402336"/>
          </a:xfrm>
          <a:prstGeom prst="rect">
            <a:avLst/>
          </a:prstGeom>
        </p:spPr>
      </p:pic>
      <p:sp>
        <p:nvSpPr>
          <p:cNvPr id="13" name="row-head"/>
          <p:cNvSpPr txBox="1"/>
          <p:nvPr/>
        </p:nvSpPr>
        <p:spPr>
          <a:xfrm>
            <a:off x="1737360" y="4617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idea</a:t>
            </a:r>
            <a:endParaRPr lang="en-US" sz="2000" dirty="0"/>
          </a:p>
        </p:txBody>
      </p:sp>
      <p:sp>
        <p:nvSpPr>
          <p:cNvPr id="14" name="row-body"/>
          <p:cNvSpPr txBox="1"/>
          <p:nvPr/>
        </p:nvSpPr>
        <p:spPr>
          <a:xfrm>
            <a:off x="1737360" y="50474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Encode a molecule in an n-qubit state and compare molecules in a 2^n-dimensional space.</a:t>
            </a:r>
            <a:endParaRPr lang="en-US" sz="1500" dirty="0"/>
          </a:p>
        </p:txBody>
      </p:sp>
      <p:sp>
        <p:nvSpPr>
          <p:cNvPr id="15" name="stat-card"/>
          <p:cNvSpPr/>
          <p:nvPr/>
        </p:nvSpPr>
        <p:spPr>
          <a:xfrm>
            <a:off x="7863840" y="1554480"/>
            <a:ext cx="36576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stat-value"/>
          <p:cNvSpPr txBox="1"/>
          <p:nvPr/>
        </p:nvSpPr>
        <p:spPr>
          <a:xfrm>
            <a:off x="8092440" y="16642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1,513</a:t>
            </a:r>
            <a:endParaRPr lang="en-US" sz="4000" dirty="0"/>
          </a:p>
        </p:txBody>
      </p:sp>
      <p:sp>
        <p:nvSpPr>
          <p:cNvPr id="17" name="stat-label"/>
          <p:cNvSpPr txBox="1"/>
          <p:nvPr/>
        </p:nvSpPr>
        <p:spPr>
          <a:xfrm>
            <a:off x="8092440" y="235915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molecules, 45.7% active</a:t>
            </a:r>
            <a:endParaRPr lang="en-US" sz="1400" dirty="0"/>
          </a:p>
        </p:txBody>
      </p:sp>
      <p:sp>
        <p:nvSpPr>
          <p:cNvPr id="18" name="stat-card"/>
          <p:cNvSpPr/>
          <p:nvPr/>
        </p:nvSpPr>
        <p:spPr>
          <a:xfrm>
            <a:off x="7863840" y="3108960"/>
            <a:ext cx="36576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9" name="stat-value"/>
          <p:cNvSpPr txBox="1"/>
          <p:nvPr/>
        </p:nvSpPr>
        <p:spPr>
          <a:xfrm>
            <a:off x="8092440" y="3218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qubits</a:t>
            </a:r>
            <a:endParaRPr lang="en-US" sz="4000" dirty="0"/>
          </a:p>
        </p:txBody>
      </p:sp>
      <p:sp>
        <p:nvSpPr>
          <p:cNvPr id="20" name="stat-label"/>
          <p:cNvSpPr txBox="1"/>
          <p:nvPr/>
        </p:nvSpPr>
        <p:spPr>
          <a:xfrm>
            <a:off x="8092440" y="391363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PCA component per qubit, simulated exactly</a:t>
            </a:r>
            <a:endParaRPr lang="en-US" sz="1400" dirty="0"/>
          </a:p>
        </p:txBody>
      </p:sp>
      <p:sp>
        <p:nvSpPr>
          <p:cNvPr id="21" name="stat-card"/>
          <p:cNvSpPr/>
          <p:nvPr/>
        </p:nvSpPr>
        <p:spPr>
          <a:xfrm>
            <a:off x="7863840" y="4663440"/>
            <a:ext cx="36576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2" name="stat-value"/>
          <p:cNvSpPr txBox="1"/>
          <p:nvPr/>
        </p:nvSpPr>
        <p:spPr>
          <a:xfrm>
            <a:off x="8092440" y="4773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seeds</a:t>
            </a:r>
            <a:endParaRPr lang="en-US" sz="4000" dirty="0"/>
          </a:p>
        </p:txBody>
      </p:sp>
      <p:sp>
        <p:nvSpPr>
          <p:cNvPr id="23" name="stat-label"/>
          <p:cNvSpPr txBox="1"/>
          <p:nvPr/>
        </p:nvSpPr>
        <p:spPr>
          <a:xfrm>
            <a:off x="8092440" y="546811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plus a scaffold split and ablations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hybrid quantum-classical pipeline</a:t>
            </a:r>
            <a:endParaRPr lang="en-US" sz="3400" dirty="0"/>
          </a:p>
        </p:txBody>
      </p:sp>
      <p:sp>
        <p:nvSpPr>
          <p:cNvPr id="3" name="step-card"/>
          <p:cNvSpPr/>
          <p:nvPr/>
        </p:nvSpPr>
        <p:spPr>
          <a:xfrm>
            <a:off x="64008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tep-badge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tep-num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-title"/>
          <p:cNvSpPr txBox="1"/>
          <p:nvPr/>
        </p:nvSpPr>
        <p:spPr>
          <a:xfrm>
            <a:off x="86868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SMILES</a:t>
            </a:r>
            <a:endParaRPr lang="en-US" sz="1800" dirty="0"/>
          </a:p>
        </p:txBody>
      </p:sp>
      <p:sp>
        <p:nvSpPr>
          <p:cNvPr id="7" name="step-body"/>
          <p:cNvSpPr txBox="1"/>
          <p:nvPr/>
        </p:nvSpPr>
        <p:spPr>
          <a:xfrm>
            <a:off x="86868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RDKit cleaning, scaffold and random splits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633472" y="2971800"/>
            <a:ext cx="21945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step-card"/>
          <p:cNvSpPr/>
          <p:nvPr/>
        </p:nvSpPr>
        <p:spPr>
          <a:xfrm>
            <a:off x="283464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step-badge"/>
          <p:cNvSpPr/>
          <p:nvPr/>
        </p:nvSpPr>
        <p:spPr>
          <a:xfrm>
            <a:off x="3063240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step-num"/>
          <p:cNvSpPr txBox="1"/>
          <p:nvPr/>
        </p:nvSpPr>
        <p:spPr>
          <a:xfrm>
            <a:off x="3063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tep-title"/>
          <p:cNvSpPr txBox="1"/>
          <p:nvPr/>
        </p:nvSpPr>
        <p:spPr>
          <a:xfrm>
            <a:off x="306324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Fingerprint + PCA</a:t>
            </a:r>
            <a:endParaRPr lang="en-US" sz="1800" dirty="0"/>
          </a:p>
        </p:txBody>
      </p:sp>
      <p:sp>
        <p:nvSpPr>
          <p:cNvPr id="13" name="step-body"/>
          <p:cNvSpPr txBox="1"/>
          <p:nvPr/>
        </p:nvSpPr>
        <p:spPr>
          <a:xfrm>
            <a:off x="306324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2048-bit Morgan to 8 angles in [0, π]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4828032" y="2971800"/>
            <a:ext cx="21945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5" name="step-card"/>
          <p:cNvSpPr/>
          <p:nvPr/>
        </p:nvSpPr>
        <p:spPr>
          <a:xfrm>
            <a:off x="502920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step-badge"/>
          <p:cNvSpPr/>
          <p:nvPr/>
        </p:nvSpPr>
        <p:spPr>
          <a:xfrm>
            <a:off x="52578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-num"/>
          <p:cNvSpPr txBox="1"/>
          <p:nvPr/>
        </p:nvSpPr>
        <p:spPr>
          <a:xfrm>
            <a:off x="5257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step-title"/>
          <p:cNvSpPr txBox="1"/>
          <p:nvPr/>
        </p:nvSpPr>
        <p:spPr>
          <a:xfrm>
            <a:off x="525780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Qiskit feature map</a:t>
            </a:r>
            <a:endParaRPr lang="en-US" sz="1800" dirty="0"/>
          </a:p>
        </p:txBody>
      </p:sp>
      <p:sp>
        <p:nvSpPr>
          <p:cNvPr id="19" name="step-body"/>
          <p:cNvSpPr txBox="1"/>
          <p:nvPr/>
        </p:nvSpPr>
        <p:spPr>
          <a:xfrm>
            <a:off x="525780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ZZ circuit loads a molecule into 8 qubits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7022592" y="2971800"/>
            <a:ext cx="21945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1" name="step-card"/>
          <p:cNvSpPr/>
          <p:nvPr/>
        </p:nvSpPr>
        <p:spPr>
          <a:xfrm>
            <a:off x="722376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2" name="step-badge"/>
          <p:cNvSpPr/>
          <p:nvPr/>
        </p:nvSpPr>
        <p:spPr>
          <a:xfrm>
            <a:off x="745236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-num"/>
          <p:cNvSpPr txBox="1"/>
          <p:nvPr/>
        </p:nvSpPr>
        <p:spPr>
          <a:xfrm>
            <a:off x="74523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step-title"/>
          <p:cNvSpPr txBox="1"/>
          <p:nvPr/>
        </p:nvSpPr>
        <p:spPr>
          <a:xfrm>
            <a:off x="745236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+ SVM</a:t>
            </a:r>
            <a:endParaRPr lang="en-US" sz="1800" dirty="0"/>
          </a:p>
        </p:txBody>
      </p:sp>
      <p:sp>
        <p:nvSpPr>
          <p:cNvPr id="25" name="step-body"/>
          <p:cNvSpPr txBox="1"/>
          <p:nvPr/>
        </p:nvSpPr>
        <p:spPr>
          <a:xfrm>
            <a:off x="745236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Fidelity kernel, C and scale tuned by CV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9217152" y="2971800"/>
            <a:ext cx="21945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7" name="step-card"/>
          <p:cNvSpPr/>
          <p:nvPr/>
        </p:nvSpPr>
        <p:spPr>
          <a:xfrm>
            <a:off x="941832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8" name="step-badge"/>
          <p:cNvSpPr/>
          <p:nvPr/>
        </p:nvSpPr>
        <p:spPr>
          <a:xfrm>
            <a:off x="9646920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step-num"/>
          <p:cNvSpPr txBox="1"/>
          <p:nvPr/>
        </p:nvSpPr>
        <p:spPr>
          <a:xfrm>
            <a:off x="96469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step-title"/>
          <p:cNvSpPr txBox="1"/>
          <p:nvPr/>
        </p:nvSpPr>
        <p:spPr>
          <a:xfrm>
            <a:off x="964692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+ select</a:t>
            </a:r>
            <a:endParaRPr lang="en-US" sz="1800" dirty="0"/>
          </a:p>
        </p:txBody>
      </p:sp>
      <p:sp>
        <p:nvSpPr>
          <p:cNvPr id="31" name="step-body"/>
          <p:cNvSpPr txBox="1"/>
          <p:nvPr/>
        </p:nvSpPr>
        <p:spPr>
          <a:xfrm>
            <a:off x="964692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score, then QAOA picks a diverse batch of K</a:t>
            </a:r>
            <a:endParaRPr lang="en-US" sz="1400" dirty="0"/>
          </a:p>
        </p:txBody>
      </p:sp>
      <p:sp>
        <p:nvSpPr>
          <p:cNvPr id="32" name="legend-q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legend-q-text"/>
          <p:cNvSpPr txBox="1"/>
          <p:nvPr/>
        </p:nvSpPr>
        <p:spPr>
          <a:xfrm>
            <a:off x="914400" y="4910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Quantum steps</a:t>
            </a:r>
            <a:endParaRPr lang="en-US" sz="1400" dirty="0"/>
          </a:p>
        </p:txBody>
      </p:sp>
      <p:sp>
        <p:nvSpPr>
          <p:cNvPr id="34" name="legend-c"/>
          <p:cNvSpPr/>
          <p:nvPr/>
        </p:nvSpPr>
        <p:spPr>
          <a:xfrm>
            <a:off x="2743200" y="498348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legend-c-text"/>
          <p:cNvSpPr txBox="1"/>
          <p:nvPr/>
        </p:nvSpPr>
        <p:spPr>
          <a:xfrm>
            <a:off x="3017520" y="4910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Classical steps</a:t>
            </a:r>
            <a:endParaRPr lang="en-US" sz="1400" dirty="0"/>
          </a:p>
        </p:txBody>
      </p:sp>
      <p:sp>
        <p:nvSpPr>
          <p:cNvPr id="36" name="baseline-note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Classical baselines (RBF-SVM, Random Forest) run on the same splits, features and tuning budget. VQC and VQE are separate modules.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quantum kernel works</a:t>
            </a:r>
            <a:endParaRPr lang="en-US" sz="3400" dirty="0"/>
          </a:p>
        </p:txBody>
      </p:sp>
      <p:sp>
        <p:nvSpPr>
          <p:cNvPr id="3" name="step-card"/>
          <p:cNvSpPr/>
          <p:nvPr/>
        </p:nvSpPr>
        <p:spPr>
          <a:xfrm>
            <a:off x="640080" y="1463040"/>
            <a:ext cx="5486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4" name="k-head"/>
          <p:cNvSpPr txBox="1"/>
          <p:nvPr/>
        </p:nvSpPr>
        <p:spPr>
          <a:xfrm>
            <a:off x="86868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800" dirty="0"/>
          </a:p>
        </p:txBody>
      </p:sp>
      <p:sp>
        <p:nvSpPr>
          <p:cNvPr id="5" name="k-formula"/>
          <p:cNvSpPr txBox="1"/>
          <p:nvPr/>
        </p:nvSpPr>
        <p:spPr>
          <a:xfrm>
            <a:off x="20574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|φ(x)⟩ = U(x)|0…0⟩</a:t>
            </a:r>
            <a:endParaRPr lang="en-US" sz="1800" dirty="0"/>
          </a:p>
        </p:txBody>
      </p:sp>
      <p:sp>
        <p:nvSpPr>
          <p:cNvPr id="6" name="k-body"/>
          <p:cNvSpPr txBox="1"/>
          <p:nvPr/>
        </p:nvSpPr>
        <p:spPr>
          <a:xfrm>
            <a:off x="868680" y="1965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feature map turns a molecule's 8 angles into a quantum state.</a:t>
            </a:r>
            <a:endParaRPr lang="en-US" sz="1400" dirty="0"/>
          </a:p>
        </p:txBody>
      </p:sp>
      <p:sp>
        <p:nvSpPr>
          <p:cNvPr id="7" name="step-card"/>
          <p:cNvSpPr/>
          <p:nvPr/>
        </p:nvSpPr>
        <p:spPr>
          <a:xfrm>
            <a:off x="640080" y="2633472"/>
            <a:ext cx="5486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8" name="k-head"/>
          <p:cNvSpPr txBox="1"/>
          <p:nvPr/>
        </p:nvSpPr>
        <p:spPr>
          <a:xfrm>
            <a:off x="868680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9" name="k-formula"/>
          <p:cNvSpPr txBox="1"/>
          <p:nvPr/>
        </p:nvSpPr>
        <p:spPr>
          <a:xfrm>
            <a:off x="205740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k(x, x′) = |⟨φ(x)|φ(x′)⟩|²</a:t>
            </a:r>
            <a:endParaRPr lang="en-US" sz="1800" dirty="0"/>
          </a:p>
        </p:txBody>
      </p:sp>
      <p:sp>
        <p:nvSpPr>
          <p:cNvPr id="10" name="k-body"/>
          <p:cNvSpPr txBox="1"/>
          <p:nvPr/>
        </p:nvSpPr>
        <p:spPr>
          <a:xfrm>
            <a:off x="868680" y="31363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Fidelity between two states is the similarity of two molecules.</a:t>
            </a:r>
            <a:endParaRPr lang="en-US" sz="1400" dirty="0"/>
          </a:p>
        </p:txBody>
      </p:sp>
      <p:sp>
        <p:nvSpPr>
          <p:cNvPr id="11" name="step-card"/>
          <p:cNvSpPr/>
          <p:nvPr/>
        </p:nvSpPr>
        <p:spPr>
          <a:xfrm>
            <a:off x="640080" y="3803904"/>
            <a:ext cx="5486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2" name="k-head"/>
          <p:cNvSpPr txBox="1"/>
          <p:nvPr/>
        </p:nvSpPr>
        <p:spPr>
          <a:xfrm>
            <a:off x="868680" y="3895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3" name="k-formula"/>
          <p:cNvSpPr txBox="1"/>
          <p:nvPr/>
        </p:nvSpPr>
        <p:spPr>
          <a:xfrm>
            <a:off x="2057400" y="3895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SVM on the kernel matrix</a:t>
            </a:r>
            <a:endParaRPr lang="en-US" sz="1800" dirty="0"/>
          </a:p>
        </p:txBody>
      </p:sp>
      <p:sp>
        <p:nvSpPr>
          <p:cNvPr id="14" name="k-body"/>
          <p:cNvSpPr txBox="1"/>
          <p:nvPr/>
        </p:nvSpPr>
        <p:spPr>
          <a:xfrm>
            <a:off x="868680" y="430682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classical SVM uses the quantum similarities to separate actives.</a:t>
            </a:r>
            <a:endParaRPr lang="en-US" sz="1400" dirty="0"/>
          </a:p>
        </p:txBody>
      </p:sp>
      <p:sp>
        <p:nvSpPr>
          <p:cNvPr id="15" name="circuit-frame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zz-circuit" descr="ZZ feature map circuit on 4 qub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20640"/>
            <a:ext cx="4150311" cy="1005840"/>
          </a:xfrm>
          <a:prstGeom prst="rect">
            <a:avLst/>
          </a:prstGeom>
        </p:spPr>
      </p:pic>
      <p:sp>
        <p:nvSpPr>
          <p:cNvPr id="17" name="circuit-caption"/>
          <p:cNvSpPr txBox="1"/>
          <p:nvPr/>
        </p:nvSpPr>
        <p:spPr>
          <a:xfrm>
            <a:off x="5156151" y="5120640"/>
            <a:ext cx="61824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ZZ feature map (4 qubits shown): Hadamards, Z rotations by the data, entangling ZZ rotations.</a:t>
            </a:r>
            <a:endParaRPr lang="en-US" sz="1400" dirty="0"/>
          </a:p>
        </p:txBody>
      </p:sp>
      <p:sp>
        <p:nvSpPr>
          <p:cNvPr id="18" name="info-card"/>
          <p:cNvSpPr/>
          <p:nvPr/>
        </p:nvSpPr>
        <p:spPr>
          <a:xfrm>
            <a:off x="6400800" y="1463040"/>
            <a:ext cx="51206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pic>
        <p:nvPicPr>
          <p:cNvPr id="19" name="icon-cogs" descr="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1640"/>
            <a:ext cx="457200" cy="457200"/>
          </a:xfrm>
          <a:prstGeom prst="rect">
            <a:avLst/>
          </a:prstGeom>
        </p:spPr>
      </p:pic>
      <p:sp>
        <p:nvSpPr>
          <p:cNvPr id="20" name="design-head"/>
          <p:cNvSpPr txBox="1"/>
          <p:nvPr/>
        </p:nvSpPr>
        <p:spPr>
          <a:xfrm>
            <a:off x="7315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</a:t>
            </a:r>
            <a:endParaRPr lang="en-US" sz="2000" dirty="0"/>
          </a:p>
        </p:txBody>
      </p:sp>
      <p:sp>
        <p:nvSpPr>
          <p:cNvPr id="21" name="design-bullets"/>
          <p:cNvSpPr txBox="1"/>
          <p:nvPr/>
        </p:nvSpPr>
        <p:spPr>
          <a:xfrm>
            <a:off x="667512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Exact statevector kernel: identical to Qiskit's FidelityQuantumKernel (verified to 1e-12), but fast enough for all 1513 molecules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PCA and scaler fitted on training data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Kernel scale and C chosen by inner cross-validation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21 automated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Quantum matches classical, no advantage</a:t>
            </a:r>
            <a:endParaRPr lang="en-US" sz="3400" dirty="0"/>
          </a:p>
        </p:txBody>
      </p:sp>
      <p:graphicFrame>
        <p:nvGraphicFramePr>
          <p:cNvPr id="3" name="auc-chart" descr=""/>
          <p:cNvGraphicFramePr/>
          <p:nvPr/>
        </p:nvGraphicFramePr>
        <p:xfrm>
          <a:off x="64008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8046720" y="14630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stat-value"/>
          <p:cNvSpPr txBox="1"/>
          <p:nvPr/>
        </p:nvSpPr>
        <p:spPr>
          <a:xfrm>
            <a:off x="8275320" y="15727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0.873 vs 0.879</a:t>
            </a:r>
            <a:endParaRPr lang="en-US" sz="3000" dirty="0"/>
          </a:p>
        </p:txBody>
      </p:sp>
      <p:sp>
        <p:nvSpPr>
          <p:cNvPr id="6" name="stat-label"/>
          <p:cNvSpPr txBox="1"/>
          <p:nvPr/>
        </p:nvSpPr>
        <p:spPr>
          <a:xfrm>
            <a:off x="8275320" y="2267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quantum vs classical SVM on the same 8 features: gap smaller than one std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804672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tat-value"/>
          <p:cNvSpPr txBox="1"/>
          <p:nvPr/>
        </p:nvSpPr>
        <p:spPr>
          <a:xfrm>
            <a:off x="8275320" y="33101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</a:t>
            </a:r>
            <a:endParaRPr lang="en-US" sz="4000" dirty="0"/>
          </a:p>
        </p:txBody>
      </p:sp>
      <p:sp>
        <p:nvSpPr>
          <p:cNvPr id="9" name="stat-label"/>
          <p:cNvSpPr txBox="1"/>
          <p:nvPr/>
        </p:nvSpPr>
        <p:spPr>
          <a:xfrm>
            <a:off x="8275320" y="4005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enrichment at 10%, close to the maximum possible 2.2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804672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Full-fingerprint Random Forest wins (0.916): the 2048 → 8 compression, not the kernel, is the bottleneck.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Entanglement and qubits: little effect</a:t>
            </a:r>
            <a:endParaRPr lang="en-US" sz="3400" dirty="0"/>
          </a:p>
        </p:txBody>
      </p:sp>
      <p:graphicFrame>
        <p:nvGraphicFramePr>
          <p:cNvPr id="3" name="qubit-chart" descr=""/>
          <p:cNvGraphicFramePr/>
          <p:nvPr/>
        </p:nvGraphicFramePr>
        <p:xfrm>
          <a:off x="640080" y="13716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fm-chart" descr=""/>
          <p:cNvGraphicFramePr/>
          <p:nvPr/>
        </p:nvGraphicFramePr>
        <p:xfrm>
          <a:off x="6309360" y="13716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-card"/>
          <p:cNvSpPr/>
          <p:nvPr/>
        </p:nvSpPr>
        <p:spPr>
          <a:xfrm>
            <a:off x="640080" y="5486400"/>
            <a:ext cx="10972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6" name="takeaway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un-entangled Z map (0.877) scores the same as entangling ZZ maps; accuracy plateaus at 8 qubits. Entanglement is not what drives performance here.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hard test: unseen scaffolds</a:t>
            </a:r>
            <a:endParaRPr lang="en-US" sz="3400" dirty="0"/>
          </a:p>
        </p:txBody>
      </p:sp>
      <p:graphicFrame>
        <p:nvGraphicFramePr>
          <p:cNvPr id="3" name="scaffold-chart" descr=""/>
          <p:cNvGraphicFramePr/>
          <p:nvPr/>
        </p:nvGraphicFramePr>
        <p:xfrm>
          <a:off x="64008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8046720" y="14630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stat-value"/>
          <p:cNvSpPr txBox="1"/>
          <p:nvPr/>
        </p:nvSpPr>
        <p:spPr>
          <a:xfrm>
            <a:off x="8275320" y="15727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-0.13 to -0.21</a:t>
            </a:r>
            <a:endParaRPr lang="en-US" sz="3000" dirty="0"/>
          </a:p>
        </p:txBody>
      </p:sp>
      <p:sp>
        <p:nvSpPr>
          <p:cNvPr id="6" name="stat-label"/>
          <p:cNvSpPr txBox="1"/>
          <p:nvPr/>
        </p:nvSpPr>
        <p:spPr>
          <a:xfrm>
            <a:off x="8275320" y="2267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 drop for every model when test scaffolds are new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804672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tat-value"/>
          <p:cNvSpPr txBox="1"/>
          <p:nvPr/>
        </p:nvSpPr>
        <p:spPr>
          <a:xfrm>
            <a:off x="8275320" y="33101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0.677 vs 0.667</a:t>
            </a:r>
            <a:endParaRPr lang="en-US" sz="3000" dirty="0"/>
          </a:p>
        </p:txBody>
      </p:sp>
      <p:sp>
        <p:nvSpPr>
          <p:cNvPr id="9" name="stat-label"/>
          <p:cNvSpPr txBox="1"/>
          <p:nvPr/>
        </p:nvSpPr>
        <p:spPr>
          <a:xfrm>
            <a:off x="8275320" y="4005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quantum vs classical SVM, scaffold split</a:t>
            </a:r>
            <a:endParaRPr lang="en-US" sz="1400" dirty="0"/>
          </a:p>
        </p:txBody>
      </p:sp>
      <p:sp>
        <p:nvSpPr>
          <p:cNvPr id="10" name="caveat"/>
          <p:cNvSpPr txBox="1"/>
          <p:nvPr/>
        </p:nvSpPr>
        <p:spPr>
          <a:xfrm>
            <a:off x="804672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deterministic split, so no error bars: small differences should not be over-interpreted.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VQC: slower and less accurate</a:t>
            </a:r>
            <a:endParaRPr lang="en-US" sz="3400" dirty="0"/>
          </a:p>
        </p:txBody>
      </p:sp>
      <p:graphicFrame>
        <p:nvGraphicFramePr>
          <p:cNvPr id="3" name="vqc-chart" descr=""/>
          <p:cNvGraphicFramePr/>
          <p:nvPr/>
        </p:nvGraphicFramePr>
        <p:xfrm>
          <a:off x="64008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772400" y="146304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stat-value"/>
          <p:cNvSpPr txBox="1"/>
          <p:nvPr/>
        </p:nvSpPr>
        <p:spPr>
          <a:xfrm>
            <a:off x="8001000" y="1572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0.625</a:t>
            </a:r>
            <a:endParaRPr lang="en-US" sz="4000" dirty="0"/>
          </a:p>
        </p:txBody>
      </p:sp>
      <p:sp>
        <p:nvSpPr>
          <p:cNvPr id="6" name="stat-label"/>
          <p:cNvSpPr txBox="1"/>
          <p:nvPr/>
        </p:nvSpPr>
        <p:spPr>
          <a:xfrm>
            <a:off x="8001000" y="22677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VQC AUC (±0.056) vs 0.811 for the kernel SVM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7772400" y="301752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tat-value"/>
          <p:cNvSpPr txBox="1"/>
          <p:nvPr/>
        </p:nvSpPr>
        <p:spPr>
          <a:xfrm>
            <a:off x="8001000" y="31272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 s</a:t>
            </a:r>
            <a:endParaRPr lang="en-US" sz="4000" dirty="0"/>
          </a:p>
        </p:txBody>
      </p:sp>
      <p:sp>
        <p:nvSpPr>
          <p:cNvPr id="9" name="stat-label"/>
          <p:cNvSpPr txBox="1"/>
          <p:nvPr/>
        </p:nvSpPr>
        <p:spPr>
          <a:xfrm>
            <a:off x="8001000" y="38221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VQC fit time vs 1.3 s for the kernel SVM (about 90x)</a:t>
            </a:r>
            <a:endParaRPr lang="en-US" sz="1400" dirty="0"/>
          </a:p>
        </p:txBody>
      </p:sp>
      <p:sp>
        <p:nvSpPr>
          <p:cNvPr id="10" name="vqc-note"/>
          <p:cNvSpPr txBox="1"/>
          <p:nvPr/>
        </p:nvSpPr>
        <p:spPr>
          <a:xfrm>
            <a:off x="7772400" y="4617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ZZ map + RealAmplitudes ansatz, COBYLA, 120 iterations, 3 seeds. Not tuned and probably under-trained: it shows the practical cost of variational training.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Screening a hold-out library</a:t>
            </a:r>
            <a:endParaRPr lang="en-US" sz="3400" dirty="0"/>
          </a:p>
        </p:txBody>
      </p:sp>
      <p:sp>
        <p:nvSpPr>
          <p:cNvPr id="3" name="fig-card"/>
          <p:cNvSpPr/>
          <p:nvPr/>
        </p:nvSpPr>
        <p:spPr>
          <a:xfrm>
            <a:off x="640080" y="1417320"/>
            <a:ext cx="6400800" cy="4053840"/>
          </a:xfrm>
          <a:prstGeom prst="roundRect">
            <a:avLst>
              <a:gd name="adj" fmla="val 2707"/>
            </a:avLst>
          </a:prstGeom>
          <a:solidFill>
            <a:schemeClr val="bg2"/>
          </a:solidFill>
          <a:ln/>
        </p:spPr>
      </p:sp>
      <p:pic>
        <p:nvPicPr>
          <p:cNvPr id="4" name="top-candidates" descr="Top 15 ranked candid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035040" cy="3688080"/>
          </a:xfrm>
          <a:prstGeom prst="rect">
            <a:avLst/>
          </a:prstGeom>
        </p:spPr>
      </p:pic>
      <p:sp>
        <p:nvSpPr>
          <p:cNvPr id="5" name="screen-note"/>
          <p:cNvSpPr txBox="1"/>
          <p:nvPr/>
        </p:nvSpPr>
        <p:spPr>
          <a:xfrm>
            <a:off x="640080" y="5654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model trained on 80% of BACE ranks 303 unseen molecules (46% truly active). Final score = 0.7 P(active) + 0.3 QED, minus a Lipinski penalty.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7406640" y="146304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stat-value"/>
          <p:cNvSpPr txBox="1"/>
          <p:nvPr/>
        </p:nvSpPr>
        <p:spPr>
          <a:xfrm>
            <a:off x="7635240" y="1572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25</a:t>
            </a:r>
            <a:endParaRPr lang="en-US" sz="4000" dirty="0"/>
          </a:p>
        </p:txBody>
      </p:sp>
      <p:sp>
        <p:nvSpPr>
          <p:cNvPr id="8" name="stat-label"/>
          <p:cNvSpPr txBox="1"/>
          <p:nvPr/>
        </p:nvSpPr>
        <p:spPr>
          <a:xfrm>
            <a:off x="7635240" y="22677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top-ranked quantum picks that are truly active (classical: 21 / 25)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7406640" y="3108960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-value"/>
          <p:cNvSpPr txBox="1"/>
          <p:nvPr/>
        </p:nvSpPr>
        <p:spPr>
          <a:xfrm>
            <a:off x="7635240" y="32186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2.12</a:t>
            </a:r>
            <a:endParaRPr lang="en-US" sz="4000" dirty="0"/>
          </a:p>
        </p:txBody>
      </p:sp>
      <p:sp>
        <p:nvSpPr>
          <p:cNvPr id="11" name="stat-label"/>
          <p:cNvSpPr txBox="1"/>
          <p:nvPr/>
        </p:nvSpPr>
        <p:spPr>
          <a:xfrm>
            <a:off x="7635240" y="39136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 at 10% (max 2.20); classical 1.90</a:t>
            </a:r>
            <a:endParaRPr lang="en-US" sz="1400" dirty="0"/>
          </a:p>
        </p:txBody>
      </p:sp>
      <p:sp>
        <p:nvSpPr>
          <p:cNvPr id="12" name="caution"/>
          <p:cNvSpPr txBox="1"/>
          <p:nvPr/>
        </p:nvSpPr>
        <p:spPr>
          <a:xfrm>
            <a:off x="7406640" y="46634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Single split: the 3-molecule gap to the classical score is suggestive, not significant. The 3-seed EF (2.07 vs 1.98) is the safer comparison.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Choosing a diverse batch with QAOA</a:t>
            </a:r>
            <a:endParaRPr lang="en-US" sz="3400" dirty="0"/>
          </a:p>
        </p:txBody>
      </p:sp>
      <p:sp>
        <p:nvSpPr>
          <p:cNvPr id="3" name="fig-card"/>
          <p:cNvSpPr/>
          <p:nvPr/>
        </p:nvSpPr>
        <p:spPr>
          <a:xfrm>
            <a:off x="640080" y="1417320"/>
            <a:ext cx="6949440" cy="3059337"/>
          </a:xfrm>
          <a:prstGeom prst="roundRect">
            <a:avLst>
              <a:gd name="adj" fmla="val 3587"/>
            </a:avLst>
          </a:prstGeom>
          <a:solidFill>
            <a:schemeClr val="bg2"/>
          </a:solidFill>
          <a:ln/>
        </p:spPr>
      </p:sp>
      <p:pic>
        <p:nvPicPr>
          <p:cNvPr id="4" name="selected-molecules" descr="Molecules selected by score-only top-K and by QA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583680" cy="2693577"/>
          </a:xfrm>
          <a:prstGeom prst="rect">
            <a:avLst/>
          </a:prstGeom>
        </p:spPr>
      </p:pic>
      <p:sp>
        <p:nvSpPr>
          <p:cNvPr id="5" name="qaoa-note"/>
          <p:cNvSpPr txBox="1"/>
          <p:nvPr/>
        </p:nvSpPr>
        <p:spPr>
          <a:xfrm>
            <a:off x="640080" y="4659537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4 of the 12 best-ranked candidates. Maximise  J(x) = Σ sᵢxᵢ − λ Σ Sᵢⱼ xᵢxⱼ  (score minus Tanimoto redundancy), mapped to an Ising Hamiltonian and solved with QAOA. The exact diversity-aware optimum scores J = 2.88 too.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795528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stat-value"/>
          <p:cNvSpPr txBox="1"/>
          <p:nvPr/>
        </p:nvSpPr>
        <p:spPr>
          <a:xfrm>
            <a:off x="8183880" y="15727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1.96 → 2.88</a:t>
            </a:r>
            <a:endParaRPr lang="en-US" sz="3400" dirty="0"/>
          </a:p>
        </p:txBody>
      </p:sp>
      <p:sp>
        <p:nvSpPr>
          <p:cNvPr id="8" name="stat-label"/>
          <p:cNvSpPr txBox="1"/>
          <p:nvPr/>
        </p:nvSpPr>
        <p:spPr>
          <a:xfrm>
            <a:off x="8183880" y="2267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objective: score-only top-K vs diversity-aware (exact and QAOA)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7955280" y="310896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-value"/>
          <p:cNvSpPr txBox="1"/>
          <p:nvPr/>
        </p:nvSpPr>
        <p:spPr>
          <a:xfrm>
            <a:off x="8183880" y="32186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 → 0.14</a:t>
            </a:r>
            <a:endParaRPr lang="en-US" sz="3400" dirty="0"/>
          </a:p>
        </p:txBody>
      </p:sp>
      <p:sp>
        <p:nvSpPr>
          <p:cNvPr id="11" name="stat-label"/>
          <p:cNvSpPr txBox="1"/>
          <p:nvPr/>
        </p:nvSpPr>
        <p:spPr>
          <a:xfrm>
            <a:off x="8183880" y="39136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pairwise similarity of the chosen batch</a:t>
            </a:r>
            <a:endParaRPr lang="en-US" sz="1400" dirty="0"/>
          </a:p>
        </p:txBody>
      </p:sp>
      <p:sp>
        <p:nvSpPr>
          <p:cNvPr id="12" name="qaoa-caution"/>
          <p:cNvSpPr txBox="1"/>
          <p:nvPr/>
        </p:nvSpPr>
        <p:spPr>
          <a:xfrm>
            <a:off x="7955280" y="4663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Top-K picked three near-duplicate analogues. No experimental affinity is used in the score, to avoid leaking the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QAOA matches random search</a:t>
            </a:r>
            <a:endParaRPr lang="en-US" sz="3400" dirty="0"/>
          </a:p>
        </p:txBody>
      </p:sp>
      <p:graphicFrame>
        <p:nvGraphicFramePr>
          <p:cNvPr id="3" name="qaoa-chart" descr=""/>
          <p:cNvGraphicFramePr/>
          <p:nvPr/>
        </p:nvGraphicFramePr>
        <p:xfrm>
          <a:off x="64008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8046720" y="14630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stat-value"/>
          <p:cNvSpPr txBox="1"/>
          <p:nvPr/>
        </p:nvSpPr>
        <p:spPr>
          <a:xfrm>
            <a:off x="8275320" y="15727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1.00x</a:t>
            </a:r>
            <a:endParaRPr lang="en-US" sz="4000" dirty="0"/>
          </a:p>
        </p:txBody>
      </p:sp>
      <p:sp>
        <p:nvSpPr>
          <p:cNvPr id="6" name="stat-label"/>
          <p:cNvSpPr txBox="1"/>
          <p:nvPr/>
        </p:nvSpPr>
        <p:spPr>
          <a:xfrm>
            <a:off x="8275320" y="2267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QAOA output quality vs random feasible subsets (1 = no better than random)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804672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tat-value"/>
          <p:cNvSpPr txBox="1"/>
          <p:nvPr/>
        </p:nvSpPr>
        <p:spPr>
          <a:xfrm>
            <a:off x="8275320" y="33101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 vs 0.001</a:t>
            </a:r>
            <a:endParaRPr lang="en-US" sz="2600" dirty="0"/>
          </a:p>
        </p:txBody>
      </p:sp>
      <p:sp>
        <p:nvSpPr>
          <p:cNvPr id="9" name="stat-label"/>
          <p:cNvSpPr txBox="1"/>
          <p:nvPr/>
        </p:nvSpPr>
        <p:spPr>
          <a:xfrm>
            <a:off x="8275320" y="4005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P(optimal) at N=14: QAOA vs uniform sampling of feasible subsets</a:t>
            </a:r>
            <a:endParaRPr lang="en-US" sz="1400" dirty="0"/>
          </a:p>
        </p:txBody>
      </p:sp>
      <p:sp>
        <p:nvSpPr>
          <p:cNvPr id="10" name="qaoa-takeaway"/>
          <p:cNvSpPr txBox="1"/>
          <p:nvPr/>
        </p:nvSpPr>
        <p:spPr>
          <a:xfrm>
            <a:off x="8046720" y="4754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Best-of-shots reaches 99-100% of the optimum, but only because the spaces are tiny (56 to 1001 feasible subsets). No quantum advantage.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VQE: exact energies for H2 and LiH</a:t>
            </a:r>
            <a:endParaRPr lang="en-US" sz="3400" dirty="0"/>
          </a:p>
        </p:txBody>
      </p:sp>
      <p:sp>
        <p:nvSpPr>
          <p:cNvPr id="3" name="fig-card"/>
          <p:cNvSpPr/>
          <p:nvPr/>
        </p:nvSpPr>
        <p:spPr>
          <a:xfrm>
            <a:off x="640080" y="1463040"/>
            <a:ext cx="7132320" cy="3006547"/>
          </a:xfrm>
          <a:prstGeom prst="roundRect">
            <a:avLst>
              <a:gd name="adj" fmla="val 3650"/>
            </a:avLst>
          </a:prstGeom>
          <a:solidFill>
            <a:schemeClr val="bg2"/>
          </a:solidFill>
          <a:ln/>
        </p:spPr>
      </p:sp>
      <p:pic>
        <p:nvPicPr>
          <p:cNvPr id="4" name="vqe-curves" descr="VQE potential energy curves for H2 and Li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949440" cy="2640787"/>
          </a:xfrm>
          <a:prstGeom prst="rect">
            <a:avLst/>
          </a:prstGeom>
        </p:spPr>
      </p:pic>
      <p:sp>
        <p:nvSpPr>
          <p:cNvPr id="5" name="vqe-note"/>
          <p:cNvSpPr txBox="1"/>
          <p:nvPr/>
        </p:nvSpPr>
        <p:spPr>
          <a:xfrm>
            <a:off x="640080" y="4698187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UCCSD ansatz, STO-3G basis, parity mapping: H2 on 2 qubits and LiH on 4 qubits (active space).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8138160" y="1463040"/>
            <a:ext cx="33832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stat-value"/>
          <p:cNvSpPr txBox="1"/>
          <p:nvPr/>
        </p:nvSpPr>
        <p:spPr>
          <a:xfrm>
            <a:off x="8366760" y="1572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 mHa</a:t>
            </a:r>
            <a:endParaRPr lang="en-US" sz="3000" dirty="0"/>
          </a:p>
        </p:txBody>
      </p:sp>
      <p:sp>
        <p:nvSpPr>
          <p:cNvPr id="8" name="stat-label"/>
          <p:cNvSpPr txBox="1"/>
          <p:nvPr/>
        </p:nvSpPr>
        <p:spPr>
          <a:xfrm>
            <a:off x="8366760" y="22677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 error vs exact at every bond length (chemical accuracy: 1.6 mHa)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8138160" y="320040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-value"/>
          <p:cNvSpPr txBox="1"/>
          <p:nvPr/>
        </p:nvSpPr>
        <p:spPr>
          <a:xfrm>
            <a:off x="8366760" y="3310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-1.137 Ha</a:t>
            </a:r>
            <a:endParaRPr lang="en-US" sz="3000" dirty="0"/>
          </a:p>
        </p:txBody>
      </p:sp>
      <p:sp>
        <p:nvSpPr>
          <p:cNvPr id="11" name="stat-label"/>
          <p:cNvSpPr txBox="1"/>
          <p:nvPr/>
        </p:nvSpPr>
        <p:spPr>
          <a:xfrm>
            <a:off x="8366760" y="40050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H2 at 0.74 Å, matching the literature STO-3G value</a:t>
            </a:r>
            <a:endParaRPr lang="en-US" sz="1400" dirty="0"/>
          </a:p>
        </p:txBody>
      </p:sp>
      <p:sp>
        <p:nvSpPr>
          <p:cNvPr id="12" name="vqe-caveat"/>
          <p:cNvSpPr txBox="1"/>
          <p:nvPr/>
        </p:nvSpPr>
        <p:spPr>
          <a:xfrm>
            <a:off x="8138160" y="47548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Noiseless simulation with exact expectation values, so near-zero error is expected. Real hardware adds shot noise and gate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Takeaways and next steps</a:t>
            </a:r>
            <a:endParaRPr lang="en-US" sz="3400" dirty="0"/>
          </a:p>
        </p:txBody>
      </p:sp>
      <p:sp>
        <p:nvSpPr>
          <p:cNvPr id="3" name="left-head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200" dirty="0"/>
          </a:p>
        </p:txBody>
      </p:sp>
      <p:sp>
        <p:nvSpPr>
          <p:cNvPr id="4" name="findings"/>
          <p:cNvSpPr txBox="1"/>
          <p:nvPr/>
        </p:nvSpPr>
        <p:spPr>
          <a:xfrm>
            <a:off x="640080" y="20574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Working, tested, reproducible hybrid pipeline in Qiskit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Quantum kernel SVM: AUC 0.87, EF 2.07 of 2.2, equal to a classical SVM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quantum advantage: compression to 8 qubits is the bottleneck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QAOA batch selection near-optimal, but equal to random search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VQC far slower and weaker; VQE reproduces exact energies</a:t>
            </a:r>
            <a:endParaRPr lang="en-US" sz="1600" dirty="0"/>
          </a:p>
        </p:txBody>
      </p:sp>
      <p:sp>
        <p:nvSpPr>
          <p:cNvPr id="5" name="right-head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next-steps"/>
          <p:cNvSpPr txBox="1"/>
          <p:nvPr/>
        </p:nvSpPr>
        <p:spPr>
          <a:xfrm>
            <a:off x="6400800" y="205740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on IBM Quantum hardware with error mitigation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Learned embeddings instead of PCA; trainable feature maps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docking and VQE fragment energies to re-rank candidates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XY-mixer / warm-start QAOA on larger shortlists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More targets and seeds, with significance tests</a:t>
            </a:r>
            <a:endParaRPr lang="en-US" sz="1600" dirty="0"/>
          </a:p>
        </p:txBody>
      </p:sp>
      <p:sp>
        <p:nvSpPr>
          <p:cNvPr id="7" name="closing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Screen">
  <a:themeElements>
    <a:clrScheme name="QuantumScreen">
      <a:dk1>
        <a:srgbClr val="1B1340"/>
      </a:dk1>
      <a:lt1>
        <a:srgbClr val="FFFFFF"/>
      </a:lt1>
      <a:dk2>
        <a:srgbClr val="2B1B5E"/>
      </a:dk2>
      <a:lt2>
        <a:srgbClr val="F4F1FB"/>
      </a:lt2>
      <a:accent1>
        <a:srgbClr val="6C3FC5"/>
      </a:accent1>
      <a:accent2>
        <a:srgbClr val="2A9D8F"/>
      </a:accent2>
      <a:accent3>
        <a:srgbClr val="F4A261"/>
      </a:accent3>
      <a:accent4>
        <a:srgbClr val="B8A1E3"/>
      </a:accent4>
      <a:accent5>
        <a:srgbClr val="4B2A91"/>
      </a:accent5>
      <a:accent6>
        <a:srgbClr val="6B7280"/>
      </a:accent6>
      <a:hlink>
        <a:srgbClr val="6C3FC5"/>
      </a:hlink>
      <a:folHlink>
        <a:srgbClr val="4B2A91"/>
      </a:folHlink>
    </a:clrScheme>
    <a:fontScheme name="QuantumSc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QuantumScreen - Capstone Presentation</dc:title>
  <dc:subject>PptxGenJS Presentation</dc:subject>
  <dc:creator>G Veda Kartik</dc:creator>
  <cp:lastModifiedBy>G Veda Kartik</cp:lastModifiedBy>
  <cp:revision>1</cp:revision>
  <dcterms:created xsi:type="dcterms:W3CDTF">2026-10-10T20:26:46Z</dcterms:created>
  <dcterms:modified xsi:type="dcterms:W3CDTF">2026-10-10T20:26:46Z</dcterms:modified>
</cp:coreProperties>
</file>